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Installer Program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B6FD4"/>
                </a:solidFill>
                <a:latin typeface="Calibri"/>
              </a:rPr>
              <a:t>January 2025 | 12 Locations | Chicago Region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256032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2344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21408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2257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05456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06624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89504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Report sections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KPIs &amp; observations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Total revenue breakdown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Rankings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Performance table &amp; matrix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Product Mix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Category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Deep Dives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Individual store detail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Next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performance indicators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$2.22M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Across 12 locations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15,023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$147.57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 / 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Network average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11,171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Unique Vehicles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Leaderboard — Top 8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74320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761488"/>
            <a:ext cx="59436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274320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992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017520"/>
            <a:ext cx="4906697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32777" y="299923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5526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3273552"/>
            <a:ext cx="449794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24020" y="325526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3529584"/>
            <a:ext cx="230878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34866" y="351129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76732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3785615"/>
            <a:ext cx="2229914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55994" y="3767328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02336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4041648"/>
            <a:ext cx="1043229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69309" y="402336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27939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297679"/>
            <a:ext cx="1011372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7452" y="427939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53542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40" y="4553712"/>
            <a:ext cx="99180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17886" y="453542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insights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4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Network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Total network revenue of $2.22M across 12 locations with 15,023 oil changes at an average of $147.57 per invoice.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Orland Park Oil N Go leads with $517,911 in revenue (23.4% of network total) and 3,312 oil changes.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Product Mix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account for 32.2% of total revenue, indicating strong upsell penetration across the network.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Growth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Duke Plymouth has the lowest revenue at $42,737 — targeted promotions could lift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Total revenue distribution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474720" cy="32004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B85A"/>
                </a:solidFill>
                <a:latin typeface="Calibri"/>
              </a:rPr>
              <a:t>TOTAL NETWORK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B6FD4"/>
                </a:solidFill>
                <a:latin typeface="Calibri"/>
              </a:rPr>
              <a:t>12 Locations | 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0175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Total 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39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5204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11,171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0233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Unique Vehicles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417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Share of Total Revenue by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737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79" y="1764792"/>
            <a:ext cx="534053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3453" y="17373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23.4%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1993391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79" y="2020823"/>
            <a:ext cx="440884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70284" y="1993391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19.3%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24942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79" y="2276856"/>
            <a:ext cx="404156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3556" y="22494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17.7%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50545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79" y="2532888"/>
            <a:ext cx="207452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6852" y="250545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9.1%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27614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79" y="2788920"/>
            <a:ext cx="200365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9765" y="27614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8.8%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3017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79" y="3044951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59" y="3017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32735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79" y="3300984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59" y="32735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352958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79" y="3557016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59" y="35295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378561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79" y="3813048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59" y="37856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40416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79" y="4069080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59" y="404164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42976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79" y="4325112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59" y="4297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45537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79" y="4581144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59" y="45537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All locations ranked by total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45720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35608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417320"/>
            <a:ext cx="25603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35608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Store 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417320"/>
            <a:ext cx="11887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435608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Oil Changes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79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499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Avg Rev/Inv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19" y="1417320"/>
            <a:ext cx="82296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39" y="1435608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Share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7792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9621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167792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169621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167792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39" y="169621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$517,911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3,312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79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499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$156.37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19" y="167792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39" y="169621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23.4%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3852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195681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193852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195681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193852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39" y="195681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$427,558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5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79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499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$157.83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19" y="193852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39" y="195681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19.3%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199132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21742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199132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221742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2199132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0439" y="221742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$391,940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5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2,797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79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499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5119" y="2199132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39" y="221742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17.7%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459736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47802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2459736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" y="247802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4720" y="2459736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20439" y="247802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$201,182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0915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1,440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79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1499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$139.71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19" y="2459736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20839" y="247802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9.1%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2720339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273862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" y="2720339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0120" y="273862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74720" y="2720339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20439" y="273862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$194,309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63440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0915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1,352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79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1499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$143.72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75119" y="2720339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20839" y="273862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8.8%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2980944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299923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4400" y="2980944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0120" y="299923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74720" y="2980944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20439" y="299923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$90,905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63440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0915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69279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71499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$148.05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75119" y="2980944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20839" y="299923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4.1%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241548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25983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0" y="3241548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0120" y="325983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74720" y="3241548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20439" y="325983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$88,129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63440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0915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585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69279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1499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$150.65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675119" y="3241548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720839" y="325983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57200" y="3502152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02920" y="352044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4400" y="3502152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60120" y="352044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74720" y="3502152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520439" y="352044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$86,424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63440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0915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79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1499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$141.45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675119" y="3502152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20839" y="352044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3.9%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7200" y="3762756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02920" y="378104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14400" y="3762756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60120" y="378104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474720" y="3762756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520439" y="378104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$71,452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663440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70915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559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669279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71499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$127.82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675119" y="3762756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720839" y="378104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3.2%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7200" y="4023359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" y="404164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4023359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60120" y="404164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74720" y="4023359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520439" y="404164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$61,331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63440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70915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444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669279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71499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$138.13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675119" y="4023359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720839" y="404164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2.8%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28396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02920" y="4302251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14400" y="428396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60120" y="4302251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74720" y="428396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520439" y="4302251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$43,024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663440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70915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296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669279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71499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$145.35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675119" y="428396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720839" y="4302251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57200" y="454456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02920" y="4562855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#12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14400" y="454456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60120" y="4562855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474720" y="454456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520439" y="4562855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$42,737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663440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70915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304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669279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71499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$140.58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675119" y="454456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720839" y="4562855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Volume vs. average ticket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673352"/>
            <a:ext cx="274320" cy="1371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65506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Volume (invoices)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673352"/>
            <a:ext cx="274320" cy="1371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65506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Avg Rev/Invoice ($)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4767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965960"/>
            <a:ext cx="320040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92938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065629"/>
            <a:ext cx="317079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6834" y="204203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8358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201875"/>
            <a:ext cx="261771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3758" y="216529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301544"/>
            <a:ext cx="3200400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227795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41950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437790"/>
            <a:ext cx="270275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8793" y="24012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537460"/>
            <a:ext cx="2841488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7528" y="251386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65541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673705"/>
            <a:ext cx="139147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97518" y="26371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2773375"/>
            <a:ext cx="28329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39011" y="274978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89133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2909620"/>
            <a:ext cx="130644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12483" y="28730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3009290"/>
            <a:ext cx="291428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20324" y="298569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12724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3145536"/>
            <a:ext cx="59331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99350" y="310896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3245205"/>
            <a:ext cx="3002085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08125" y="32216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36316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3381451"/>
            <a:ext cx="56528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71328" y="334487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3481120"/>
            <a:ext cx="3054807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0847" y="34575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59907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3617366"/>
            <a:ext cx="590411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96451" y="35807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3717035"/>
            <a:ext cx="286825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74294" y="36934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83499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0" y="3853281"/>
            <a:ext cx="540164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46204" y="38167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3952951"/>
            <a:ext cx="25918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97911" y="392935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407090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4089196"/>
            <a:ext cx="429039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35079" y="405262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4188866"/>
            <a:ext cx="280093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06972" y="416527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$138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306824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60320" y="4325112"/>
            <a:ext cx="28602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92066" y="4288536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0" y="4424781"/>
            <a:ext cx="2947336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53376" y="44011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542739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0" y="4561027"/>
            <a:ext cx="29375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99796" y="4524451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0" y="4660696"/>
            <a:ext cx="285061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56652" y="46371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Mix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Revenue by product category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560320" cy="5486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B2D8A"/>
                </a:solidFill>
                <a:latin typeface="Calibri"/>
              </a:rPr>
              <a:t>42.6%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Royal Purple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$944,926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973A"/>
                </a:solidFill>
                <a:latin typeface="Calibri"/>
              </a:rPr>
              <a:t>32.2%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High Mileage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$713,145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560320" cy="54864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44B8"/>
                </a:solidFill>
                <a:latin typeface="Calibri"/>
              </a:rPr>
              <a:t>31.9%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Royal Purple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$706,843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 (Top 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346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2852928"/>
            <a:ext cx="45720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9" y="28346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$706,843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3580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054096"/>
            <a:ext cx="2790145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3305" y="303580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$431,364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23697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255264"/>
            <a:ext cx="184604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9202" y="323697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$285,403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43814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3456432"/>
            <a:ext cx="16909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140" y="343814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$261,430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6393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3657600"/>
            <a:ext cx="155029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73450" y="36393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$239,679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404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3858768"/>
            <a:ext cx="1216424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584" y="38404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$188,062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04164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RS5W20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77440" y="4059935"/>
            <a:ext cx="82839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51555" y="404164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$128,072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24281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RS0W16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4261104"/>
            <a:ext cx="320266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426" y="424281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$49,514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44398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RS5W40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462272"/>
            <a:ext cx="18586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9022" y="444398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$28,735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64515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18000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77440" y="4663440"/>
            <a:ext cx="1828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40" y="464515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$24,968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Store-Level Deep Dives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Individual performance analysis — January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Orland Park Oil N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$156.37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$182,703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179276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3304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$94,265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12950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353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$68,093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116761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789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$61,394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108358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23866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$56,976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82831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6859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$43,554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23.4% of total network revenue. With 3,312 oil changes and an average ticket of $156.37, Orland Park Oil N Go leads in the network. Royal Purple High products represent 42%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Lube Master Oil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11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$157.83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$127,668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262633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661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$96,497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148886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2914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$54,704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148687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27150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$54,631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125758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9786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$46,206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110608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636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$40,640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19.3% of total network revenue. With 2,709 oil changes and an average ticket of $157.83, Lube Master Oil Change ranks #2 in the network. Royal Purple High products represent 47%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Palos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#3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$82,072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292795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823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$69,158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285810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9838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$67,508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271900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5928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$64,223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230464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4492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$54,435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15820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22282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$37,367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17.7% of total network revenue. With 2,797 oil changes and an average ticket of $140.13, Palos Oil &amp; Lube ranks #3 in the network. High Mileage products represent 52%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Valpo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#4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13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$139.71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$69,504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239655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683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$47,937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225712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7408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$45,149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16475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78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$32,956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558811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99091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$11,178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414495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4775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$8,291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9.1% of total network revenue. With 1,440 oil changes and an average ticket of $139.71, Duke Valpo ranks #4 in the network. Royal Purple High products represent 75%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Aurora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#5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14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$143.72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$49,675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29825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2278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$42,638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241231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2593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$34,487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222898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926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$31,866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167366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13947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$23,927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127296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1324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$18,198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8.8% of total network revenue. With 1,352 oil changes and an average ticket of $143.72, Aurora Oil &amp; Lube ranks #5 in the network. High Mileage products represent 56%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Palatine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#6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$148.05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$66,207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42736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6764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$8,143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41889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917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27313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341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$5,204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$1,958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$1,704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4.1% of total network revenue. With 614 oil changes and an average ticket of $148.05, Duke Palatine ranks #6 in the network. Royal Purple products represent 73%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#7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$150.65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$58,873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115804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832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$19,621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42734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67627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$7,241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32387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415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$2,700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$1,473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4.0% of total network revenue. With 585 oil changes and an average ticket of $150.65, Duke Westmont 1 ranks #7 in the network. Royal Purple products represent 67%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#8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$141.45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$41,021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99809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38374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$11,783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RP0W20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67466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14940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RP5W30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51612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5640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$6,093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46496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0524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33512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7540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$3,956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3.9% of total network revenue. With 611 oil changes and an average ticket of $141.45, Duke Westmont 2 ranks #8 in the network. Royal Purple products represent 47%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Cal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#9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$71,452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$127.82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$33,345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65242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92707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$6,261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18000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601624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41904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$5,773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RP0W20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57605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1633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$5,528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507355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7635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RP5W30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50075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1039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3.2% of total network revenue. With 559 oil changes and an average ticket of $127.82, Duke Cal City ranks #9 in the network. Royal Purple products represent 47%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S. Holland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#10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$61,331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$138.13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$10,310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33848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50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$10,044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332014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6042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$9,852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299268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3296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$8,880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256186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214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$7,602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198120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2148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$5,879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2.8% of total network revenue. With 444 oil changes and an average ticket of $138.13, Duke S. Holland ranks #10 in the network. Royal Purple High products represent 44%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Mt. 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$43,024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$145.35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$24,785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RP0W20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7266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668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$5,183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53011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70392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$3,781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18000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5132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535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$3,661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30616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46448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$2,184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RP5W20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20427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4455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$1,457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296 oil changes and an average ticket of $145.35, Duke Mt. Prospect ranks #11 in the network. Royal Purple products represent 58%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Plymouth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21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$42,737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$10,795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26080"/>
            <a:ext cx="251482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5108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$7,813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227832"/>
            <a:ext cx="23812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215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$7,398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529584"/>
            <a:ext cx="166313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0341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831335"/>
            <a:ext cx="142562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6590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$4,429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133087"/>
            <a:ext cx="126745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07731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$3,937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304 oil changes and an average ticket of $140.58, Duke Plymouth ranks #12 in the network. Royal Purple High products represent 57% of this location's revenue.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8973A"/>
                </a:solidFill>
                <a:latin typeface="Calibri"/>
              </a:rPr>
              <a:t>ROYAL PURPLE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Next Steps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Action items for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Boost Underperformers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Target Duke Plymouth with promotional offers to increase volume and average ticket size.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Expand High Mileage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show strong margins — push upsell training to increase penetration across all locations.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Replicate Top Performer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Study Orland Park Oil N Go's practices and replicate successful strategies across the network.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Monthly Trend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Establish month-over-month tracking to identify seasonal patterns and measure the impact of promotional campaigns.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Royal Purple Installer Program | January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640080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148840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