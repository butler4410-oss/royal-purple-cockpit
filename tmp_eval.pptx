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23774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Partnership Hub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B6FD4"/>
                </a:solidFill>
                <a:latin typeface="Calibri"/>
              </a:rPr>
              <a:t>January 2025 | 12 Locations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56032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39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38528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2257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$146.89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05456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06624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9504"/>
            <a:ext cx="21945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 / 32</a:t>
            </a:r>
          </a:p>
        </p:txBody>
      </p:sp>
      <p:pic>
        <p:nvPicPr>
          <p:cNvPr id="22" name="Picture 21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Report sections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KPIs &amp; observations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Total revenue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Rankings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860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Performance table &amp; matrix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Product Mix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Category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Store Deep Dives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Individual store detail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71800"/>
            <a:ext cx="25603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8973A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52044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4B2D8A"/>
                </a:solidFill>
                <a:latin typeface="Calibri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840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performance indicators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$2.05M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Across 12 locations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$146.89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 / 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Network average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417320"/>
            <a:ext cx="1920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66560" y="1417320"/>
            <a:ext cx="192024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5544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13,970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659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Unique Vehicles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67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Revenue Leaderboard — Top 8 Stores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74320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2761488"/>
            <a:ext cx="59436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4320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$459,379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9923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017520"/>
            <a:ext cx="4987195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13275" y="29992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$385,458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5526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3273552"/>
            <a:ext cx="4503168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29248" y="325526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$348,048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529584"/>
            <a:ext cx="2602963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9043" y="351129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7673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3785615"/>
            <a:ext cx="2472836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8916" y="376732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$191,125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023360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041648"/>
            <a:ext cx="1168122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94202" y="402336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$90,284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279392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40" y="4297679"/>
            <a:ext cx="106083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86910" y="427939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$81,991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535424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4553712"/>
            <a:ext cx="1049169" cy="201168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75249" y="453542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4B2D8A"/>
                </a:solidFill>
                <a:latin typeface="Calibri"/>
              </a:rPr>
              <a:t>$81,090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Executive 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Key insights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4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Network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Total network revenue of $2.05M across 12 locations with 13,970 oil changes at an average of $146.89 per invoice.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Top Performer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Orland Park Oil N Go leads with $459,379 in revenue (22.4% of network total) and 2,958 oil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Product Mix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account for 34.8% of total revenue, indicating strong upsell penetration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Growth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Duke Plymouth has the lowest revenue at $42,659 — targeted promotions could lift volume.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Total revenue distribution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5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474720" cy="32004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E8B85A"/>
                </a:solidFill>
                <a:latin typeface="Calibri"/>
              </a:rPr>
              <a:t>TOTAL NETWORK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B6FD4"/>
                </a:solidFill>
                <a:latin typeface="Calibri"/>
              </a:rPr>
              <a:t>12 Locations | January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175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Total Oil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3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$146.89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233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9B6FD4"/>
                </a:solidFill>
                <a:latin typeface="Calibri"/>
              </a:rPr>
              <a:t>Unique Vehicles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Share of Total Revenue by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73736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79" y="1764792"/>
            <a:ext cx="511762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1162" y="17373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22.4%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1993391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9" y="2020823"/>
            <a:ext cx="429413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8813" y="1993391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18.8%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224942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79" y="2276856"/>
            <a:ext cx="387736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7136" y="22494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17.0%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250545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79" y="2532888"/>
            <a:ext cx="224123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3523" y="250545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7614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2788920"/>
            <a:ext cx="212918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2318" y="276148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9.3%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30175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3044951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59" y="3017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327355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79" y="3300984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59" y="32735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529584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79" y="3557016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59" y="352958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4.0%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7856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3813048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59" y="378561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3.5%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404164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79" y="4069080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59" y="40416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42976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79" y="4325112"/>
            <a:ext cx="137160" cy="164592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59" y="4297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55371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79" y="4581144"/>
            <a:ext cx="137160" cy="164592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59" y="455371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2.1%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All locations ranked by total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6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45720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1417320"/>
            <a:ext cx="25603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435608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Store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17320"/>
            <a:ext cx="118872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435608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Oil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417320"/>
            <a:ext cx="100584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4999" y="1435608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Avg Rev/Inv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19" y="1417320"/>
            <a:ext cx="822960" cy="260603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39" y="1435608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Calibri"/>
              </a:rPr>
              <a:t>Share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7792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69621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167792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169621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167792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39" y="169621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$459,379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5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2,958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79" y="167792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4999" y="169621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$155.30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167792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39" y="169621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22.4%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193852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195681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193852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195681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193852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39" y="195681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$385,458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2,456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193852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4999" y="195681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$156.95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19" y="193852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39" y="195681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18.8%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199132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221742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2199132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221742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2199132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39" y="221742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$348,048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0915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2,491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199132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14999" y="221742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75119" y="2199132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0839" y="221742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17.0%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2459736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247802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4400" y="2459736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247802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0" y="2459736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0439" y="247802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$201,182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63440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15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1,440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2459736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14999" y="247802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$139.71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19" y="2459736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39" y="247802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2720339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273862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4400" y="2720339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0120" y="273862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2720339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520439" y="273862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$191,125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63440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915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1,333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2720339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14999" y="273862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$143.38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19" y="2720339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20839" y="273862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9.3%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2980944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2999232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2980944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60120" y="2999232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74720" y="2980944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520439" y="2999232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$90,284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63440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70915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610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79" y="2980944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4999" y="2999232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$148.01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75119" y="2980944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20839" y="2999232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4.4%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7200" y="3241548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02920" y="3259836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14400" y="3241548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" y="3259836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3241548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520439" y="3259836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$81,991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63440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0915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542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669279" y="3241548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714999" y="3259836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$151.28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675119" y="3241548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720839" y="3259836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502152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02920" y="3520440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#8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14400" y="3502152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60120" y="3520440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474720" y="3502152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520439" y="3520440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$81,090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63440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0915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574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79" y="3502152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714999" y="3520440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$141.27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675119" y="3502152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20839" y="3520440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4.0%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3762756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02920" y="3781044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#9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14400" y="3762756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60120" y="3781044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3762756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520439" y="3781044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$71,344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63440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70915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558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669279" y="3762756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714999" y="3781044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$127.86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19" y="3762756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720839" y="3781044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3.5%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57200" y="4023359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02920" y="4041647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14400" y="4023359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60120" y="4041647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474720" y="4023359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520439" y="4041647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$56,422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63440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70915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409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669279" y="4023359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14999" y="4041647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$137.95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75119" y="4023359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720839" y="4041647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2.7%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57200" y="4283964"/>
            <a:ext cx="45720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2920" y="4302251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14400" y="4283964"/>
            <a:ext cx="25603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" y="4302251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474720" y="4283964"/>
            <a:ext cx="118872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20439" y="4302251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$43,024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3440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70915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296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669279" y="4283964"/>
            <a:ext cx="100584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14999" y="4302251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$145.35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675119" y="4283964"/>
            <a:ext cx="822960" cy="2606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720839" y="4302251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2.1%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57200" y="4544568"/>
            <a:ext cx="45720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4562855"/>
            <a:ext cx="36576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C8973A"/>
                </a:solidFill>
                <a:latin typeface="Calibri"/>
              </a:rPr>
              <a:t>#12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14400" y="4544568"/>
            <a:ext cx="25603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60120" y="4562855"/>
            <a:ext cx="2468879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474720" y="4544568"/>
            <a:ext cx="118872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520439" y="4562855"/>
            <a:ext cx="109728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$42,659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63440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70915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303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669279" y="4544568"/>
            <a:ext cx="100584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714999" y="4562855"/>
            <a:ext cx="91440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$140.79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675119" y="4544568"/>
            <a:ext cx="822960" cy="2606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20839" y="4562855"/>
            <a:ext cx="731520" cy="2240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334155"/>
                </a:solidFill>
                <a:latin typeface="Calibri"/>
              </a:rPr>
              <a:t>2.1%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Performance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Volume vs. average ticket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7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0" y="1673352"/>
            <a:ext cx="274320" cy="1371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49240" y="165506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Volume (invoices)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673352"/>
            <a:ext cx="274320" cy="1371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655064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334155"/>
                </a:solidFill>
                <a:latin typeface="Calibri"/>
              </a:rPr>
              <a:t>Avg Rev/Invoice ($)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4767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965960"/>
            <a:ext cx="320040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92938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2,958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2065629"/>
            <a:ext cx="3166754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2794" y="204203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18358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2201875"/>
            <a:ext cx="2657262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3302" y="216529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2,456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301544"/>
            <a:ext cx="3200400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27795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41950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437790"/>
            <a:ext cx="269513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1170" y="24012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2,491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2537460"/>
            <a:ext cx="2849059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5099" y="251386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655417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2673705"/>
            <a:ext cx="1558004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4044" y="26371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2773375"/>
            <a:ext cx="284885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54895" y="2749783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891332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2909620"/>
            <a:ext cx="1442235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8275" y="28730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1,333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009290"/>
            <a:ext cx="292369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9731" y="2985698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2724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3145536"/>
            <a:ext cx="659987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6027" y="310896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610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0" y="3245205"/>
            <a:ext cx="3018102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4142" y="322161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36316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381451"/>
            <a:ext cx="586415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92455" y="334487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3481120"/>
            <a:ext cx="308478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90821" y="345752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59907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3617366"/>
            <a:ext cx="621037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27077" y="35807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574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3717035"/>
            <a:ext cx="2880665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705" y="369344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34993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3853281"/>
            <a:ext cx="60372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9766" y="38167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558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3952951"/>
            <a:ext cx="2607219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13259" y="3929359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$128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070908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4089196"/>
            <a:ext cx="44251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48556" y="405262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409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4188866"/>
            <a:ext cx="2812967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19007" y="4165274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306824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325112"/>
            <a:ext cx="320256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26296" y="4288536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560320" y="4424781"/>
            <a:ext cx="2963861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69901" y="4401190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4542739"/>
            <a:ext cx="2011680" cy="235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4561027"/>
            <a:ext cx="327830" cy="9436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33870" y="4524451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4B2D8A"/>
                </a:solidFill>
                <a:latin typeface="Calibri"/>
              </a:rPr>
              <a:t>303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60320" y="4660696"/>
            <a:ext cx="2870878" cy="9436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76918" y="4637105"/>
            <a:ext cx="731520" cy="11795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>
                <a:solidFill>
                  <a:srgbClr val="C8973A"/>
                </a:solidFill>
                <a:latin typeface="Calibri"/>
              </a:rPr>
              <a:t>$141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Mix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Revenue by product category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8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560320" cy="5486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4B2D8A"/>
                </a:solidFill>
                <a:latin typeface="Calibri"/>
              </a:rPr>
              <a:t>46.3%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Royal Purple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$949,817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973A"/>
                </a:solidFill>
                <a:latin typeface="Calibri"/>
              </a:rPr>
              <a:t>34.8%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High Mileage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$714,012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417320"/>
            <a:ext cx="25603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B44B8"/>
                </a:solidFill>
                <a:latin typeface="Calibri"/>
              </a:rPr>
              <a:t>18.9%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Other / Specialty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1488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Calibri"/>
              </a:rPr>
              <a:t>$388,177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6517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 (Top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2852928"/>
            <a:ext cx="457200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95159" y="283464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03580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3054096"/>
            <a:ext cx="2790145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3305" y="303580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$431,364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2369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55264"/>
            <a:ext cx="184604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9202" y="323697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$285,403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3814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77440" y="3456432"/>
            <a:ext cx="16909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140" y="343814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$261,430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6393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657600"/>
            <a:ext cx="1550290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73450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$239,679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8404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77440" y="3858768"/>
            <a:ext cx="1216424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39584" y="38404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$188,062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04164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4059935"/>
            <a:ext cx="828395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51555" y="4041648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$128,072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77440" y="4261104"/>
            <a:ext cx="320266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426" y="4242816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$49,514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4439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77440" y="4462272"/>
            <a:ext cx="185862" cy="146304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9022" y="4443984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$28,735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6451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440" y="4663440"/>
            <a:ext cx="182880" cy="14630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06040" y="464515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Product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Category-level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9 / 32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44.2%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10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$907,996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44.2%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6,311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$75,666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Royal Purple High Revenue by Store (Top 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$206,783 (23%)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2855156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5436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$184,476 (20%)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2348307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88587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$151,728 (17%)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401568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419856"/>
            <a:ext cx="2276869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17149" y="340156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$147,112 (16%)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66674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685031"/>
            <a:ext cx="973275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13555" y="36667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$62,885 (7%)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3950207"/>
            <a:ext cx="530307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70587" y="3931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$34,264 (4%)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19709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215383"/>
            <a:ext cx="416107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6387" y="419709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$26,885 (3%)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46227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4480559"/>
            <a:ext cx="381252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21532" y="446227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$24,633 (3%)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High-performance full synthetic oil with Synerlec technology for superior wear protection, reduced heat, and increased fuel efficiency.
Orland Park Oil N Go leads with 23% of Royal Purple High revenue across the network. This product is sold at 12 of 12 locations. 7 store(s) sell below average — potential growth targets.
Top SKUs: RP High Perf 0W-20 ($431,364), RP High Perf 5W-30 ($261,430), RP High Perf 5W-20 ($128,072), RP High Perf 0W-16 ($49,514), RP High Perf 5W-40 ($28,735)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High Mileage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34.8%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11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$713,145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34.8%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4,785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$59,429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High Mileage Revenue by Store (Top 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$204,016 (29%)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2645187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85467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$168,623 (24%)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2219345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9625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$141,477 (20%)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401568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419856"/>
            <a:ext cx="1695593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5873" y="340156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$108,089 (15%)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66674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685031"/>
            <a:ext cx="434167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74447" y="36667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$27,677 (4%)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3950207"/>
            <a:ext cx="373207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13487" y="3931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$23,791 (3%)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19709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215383"/>
            <a:ext cx="18288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23160" y="419709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$11,026 (2%)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46227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4480559"/>
            <a:ext cx="182880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23160" y="446227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$9,617 (1%)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Synthetic motor oil for engines with 75,000+ miles. Reduces oil consumption, revitalizes seals, and removes deposits using Synerlec additive technology.
Palos Oil &amp; Lube leads with 29% of High Mileage revenue across the network. This product is sold at 12 of 12 locations. 8 store(s) sell below average — potential growth targets.
Top SKUs: HMX 0W-20 High Mileage ($285,403), HMX 5W-30 High Mileage ($239,679), HMX 5W-20 High Mileage ($188,062)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Max-Clean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34.4%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12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$706,843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34.4%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4,198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Attachment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4,198 of 13,970 inv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Max-Clean Revenue by Store (Top 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 (26%)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2236355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6635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 (18%)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1159746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0026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 (9%)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401568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419856"/>
            <a:ext cx="1124982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65262" y="340156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 (9%)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66674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685031"/>
            <a:ext cx="1031277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71557" y="36667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 (8%)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Valpo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3950207"/>
            <a:ext cx="839717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79997" y="3931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 (7%)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19709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215383"/>
            <a:ext cx="746892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7172" y="419709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 (6%)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46227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4480559"/>
            <a:ext cx="718567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58847" y="446227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 (6%)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High-performance fuel system cleaner and stabilizer. Deeply cleans injectors, carburetors, intake valves, and combustion chambers.
Of 4,198 Max-Clean transactions, 1,374 (33%) were paired with RP oil and 2,824 (67%) with non-RP oil (upsell opportunity). Duke Palatine leads attachment at 71.1%. Lube Master Oil Change delivers the highest ticket lift at +$48.72.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Syn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2.0%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13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$41,821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2.0%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$13,940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Royal Purple Syn Revenue by Store (Top 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$17,773 (42%)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2652113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393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$14,728 (35%)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1678142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8422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$9,319 (22%)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Premium full synthetic oil exceeding API/ILSAC standards. Enhanced film strength minimizes metal-to-metal contact in modern engines.
Duke Westmont 2 leads with 42% of Royal Purple Syn revenue across the network. This product is sold at 3 of 12 locations.
Top SKUs: RP Synthetic 0W-20 ($18,676), RP Synthetic 5W-30 ($12,194), RP Synthetic 5W-20 ($6,888), RP Synthetic 0W-16 ($2,813), RP Synthetic 5W-40 ($816.33)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Duralec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1.8%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14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$36,931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1.8%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$9,233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Duralec Revenue by Store (Top 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$18,201 (49%)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1884320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24600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$10,716 (29%)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1144403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4683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$6,508 (18%)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401568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Aurora Oil &amp; Lube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419856"/>
            <a:ext cx="264530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04810" y="340156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$1,504 (4%)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Premium synthetic diesel engine oil (API CK-4) for emission-controlled engines with DPF, EGR, and SCR systems. Extends drain intervals.
Lube Master Oil Change leads with 49% of Duralec revenue across the network. This product is sold at 4 of 12 locations. 1 store(s) sell below average — potential growth targets.
Top SKUs: Duralec Super 5W-40 ($24,882), Duralec Super 15W-40 ($12,049)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Max-Atomizer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1.2%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15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$24,968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1.2%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$2,270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Max-Atomizer Revenue by Store (Top 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Cal City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 (23%)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3071690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1970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$5,541 (22%)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Mt. Prospect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2029521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9801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 (15%)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3401568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S. Holland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419856"/>
            <a:ext cx="1641392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1672" y="3401568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$2,961 (12%)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3666744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Plymouth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685031"/>
            <a:ext cx="1456235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96515" y="3666744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$2,627 (11%)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3192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Westmont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3950207"/>
            <a:ext cx="947883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88163" y="393192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$1,710 (7%)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419709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215383"/>
            <a:ext cx="852262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92542" y="419709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$1,537 (6%)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446227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94560" y="4480559"/>
            <a:ext cx="335844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76124" y="446227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$605.86 (2%)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Advanced fuel injector cleaner for optimized spray patterns and improved combustion efficiency.
Duke Cal City leads with 23% of Max-Atomizer revenue across the network. This product is sold at 11 of 12 locations. 4 store(s) sell below average — potential growth targets.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Royal Purple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0.1%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16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$2,594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0.1%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$864.58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Royal Purple Premium Revenue by Store (Top 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Lube Master Oil Change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$1,277 (49%)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871216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Orland Park Oil N 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889504"/>
            <a:ext cx="2667572" cy="182879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07852" y="2871216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$1,064 (41%)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136392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Palos Oil &amp; Lube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154680"/>
            <a:ext cx="632295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72575" y="3136392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$252.30 (10%)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Premium synthetic motor oil with proprietary Synerlec additive technology for maximum engine protection.
Lube Master Oil Change leads with 49% of Royal Purple Premium revenue across the network. This product is sold at 3 of 12 locations. 1 store(s) sell below average — potential growth targets.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Product Deep Dive: High Mileage Syn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0.0% of network revenue —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17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$867.35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Category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0.0% of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Product line appearances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Stores Selling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locations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$867.35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per Store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Revenue per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High Mileage Syn Revenue by Store (Top 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2606040"/>
            <a:ext cx="1828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Duke Palatine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200400" cy="182879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2606040"/>
            <a:ext cx="1371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$867.35 (100%)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606040"/>
            <a:ext cx="3108960" cy="21031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Product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971800"/>
            <a:ext cx="28346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Full synthetic high mileage formulation with enhanced seal conditioning and superior wear protection for high-mileage engines.
Duke Palatine leads with 100% of High Mileage Syn revenue across the network. This product is sold at 1 of 12 locations.
Top SKUs: HMX Syn 5W-30 High Mileage ($720.85), HMX Syn 5W-20 High Mileage ($146.50)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640080"/>
            <a:ext cx="3108960" cy="1280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0" y="2057400"/>
            <a:ext cx="4572000" cy="3657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Store-Level Deep Dives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Individual performance analysis — January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18 / 32</a:t>
            </a:r>
          </a:p>
        </p:txBody>
      </p:sp>
      <p:pic>
        <p:nvPicPr>
          <p:cNvPr id="10" name="Picture 9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Orland Park Oil 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19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$459,379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2,958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$155.30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$182,703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79276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304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$94,265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2950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53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$68,093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16761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0789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$61,394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08358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23866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$56,976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82831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8597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$43,554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22.4% of total network revenue. With 2,958 oil changes and an average ticket of $155.30, Orland Park Oil N Go leads in the network. Royal Purple High products represent 45%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Lube Master Oil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20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$385,458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2,456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$156.95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$96,497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59716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7440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$127,668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196981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1009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$54,704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96717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745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$54,631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6381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04099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$46,206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46338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663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$40,640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18.8% of total network revenue. With 2,456 oil changes and an average ticket of $156.95, Lube Master Oil Change ranks #2 in the network. Royal Purple High products represent 48%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Palos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#3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21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$348,048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2,491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$82,072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92795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823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$69,158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858109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98389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$67,508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1900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928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$64,223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30464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4492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$54,435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58200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282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$37,367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17.0% of total network revenue. With 2,491 oil changes and an average ticket of $139.72, Palos Oil &amp; Lube ranks #3 in the network. High Mileage products represent 59%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Valpo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#4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22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$201,182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1,440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$139.71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$69,504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39655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836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$47,937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257128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7408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$45,149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475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878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$32,956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58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99091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$11,178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414495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4775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$8,291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9.8% of total network revenue. With 1,440 oil changes and an average ticket of $139.71, Duke Valpo ranks #4 in the network. Royal Purple High products represent 75%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Aurora Oil &amp; Lube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#5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23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$191,125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1,333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$143.38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$49,675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412313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2593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$34,487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98250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2278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$42,638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22898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6926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$31,866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67366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13947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$23,927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7296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1324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$18,198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9.3% of total network revenue. With 1,333 oil changes and an average ticket of $143.38, Aurora Oil &amp; Lube ranks #5 in the network. High Mileage products represent 57% of this location's mix. Synthetic motor oil for engines with 75,000+ miles. Reduces oil consumption, revitalizes seals, and removes deposits using Synerlec additive technology.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Palatine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#6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24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$90,284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610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$148.01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$66,207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41889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9179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$7,982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43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$8,143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7313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1341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$5,204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$1,958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$1,704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4.4% of total network revenue. With 610 oil changes and an average ticket of $148.01, Duke Palatine ranks #6 in the network. Max-Clean products represent 73%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#7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25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$81,991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$151.28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$58,873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115804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8322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$19,621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427347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7627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$7,241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32387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415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8288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23160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$2,700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0W-16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82880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60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$1,473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542 oil changes and an average ticket of $151.28, Duke Westmont 1 ranks #7 in the network. Max-Clean products represent 72%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Westmont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#8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26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$81,090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$141.27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$41,021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99809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8374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$11,783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7466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14940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$7,965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612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6409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$6,093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46496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524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$5,489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1313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5341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$3,697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4.0% of total network revenue. With 574 oil changes and an average ticket of $141.27, Duke Westmont 2 ranks #8 in the network. Max-Clean products represent 51%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Cal 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#9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27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$71,344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558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$127.86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$33,345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652427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92707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$6,261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60162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904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$5,773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7605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34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507355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7635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$4,869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50075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1039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$4,806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3.5% of total network revenue. With 558 oil changes and an average ticket of $127.86, Duke Cal City ranks #9 in the network. Max-Clean products represent 47%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S. Holland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#10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28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$56,422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409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$137.95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$10,310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3320149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0429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$9,852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3384811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25091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$10,044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299268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2968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$8,880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256186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2142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5W-20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981204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21484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$5,879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2.7% of total network revenue. With 409 oil changes and an average ticket of $137.95, Duke S. Holland ranks #10 in the network. Royal Purple High products represent 48%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High Mileage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Mt. 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#11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29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$43,024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296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$145.35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$24,785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72661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66891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530112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70392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$3,781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Max-Atomizer Fuel Injector Cleaner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513276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53556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$3,661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Synthetic 0W-16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94014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34294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$1,384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30616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46448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$2,184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2.1% of total network revenue. With 296 oil changes and an average ticket of $145.35, Duke Mt. Prospect ranks #11 in the network. Max-Clean products represent 58% of this location's mix. High-performance fuel system cleaner and stabilizer. Deeply cleans injectors, carburetors, intake valves, and combustion chambers.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Max-Clean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Store Deep Dive: Duke Plymouth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Rank #12 of 12 by Revenue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30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$42,659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January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7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887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303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Oil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Invoice 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59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$140.79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Avg Rev/Invoice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Per transaction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417320"/>
            <a:ext cx="1874519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1417320"/>
            <a:ext cx="1874519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1554480"/>
            <a:ext cx="1691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B2D8A"/>
                </a:solidFill>
                <a:latin typeface="Calibri"/>
              </a:rPr>
              <a:t>#12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1965960"/>
            <a:ext cx="1691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334155"/>
                </a:solidFill>
                <a:latin typeface="Calibri"/>
              </a:rPr>
              <a:t>Network 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2167128"/>
            <a:ext cx="169163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4A3B8"/>
                </a:solidFill>
                <a:latin typeface="Calibri"/>
              </a:rPr>
              <a:t>of 12 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3774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B2D8A"/>
                </a:solidFill>
                <a:latin typeface="Calibri"/>
              </a:rPr>
              <a:t>Revenue by Product SKU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60604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0W-20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94560" y="2624328"/>
            <a:ext cx="3474720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4999" y="260604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$10,795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9077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2926080"/>
            <a:ext cx="2514828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5108" y="2907792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$7,813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209544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Max-Clean Fuel System Cleaner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227832"/>
            <a:ext cx="2381226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1506" y="3209544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$7,398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511296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RP High Perf 5W-20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3529584"/>
            <a:ext cx="1663132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03412" y="351129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$5,167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13048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0W-20 High Mileage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3831335"/>
            <a:ext cx="1425623" cy="21945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65903" y="3813048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$4,429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14800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334155"/>
                </a:solidFill>
                <a:latin typeface="Calibri"/>
              </a:rPr>
              <a:t>HMX 5W-30 High Mileage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4133087"/>
            <a:ext cx="1267451" cy="219456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7731" y="4114800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4B2D8A"/>
                </a:solidFill>
                <a:latin typeface="Calibri"/>
              </a:rPr>
              <a:t>$3,937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606040"/>
            <a:ext cx="2926080" cy="201168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8B85A"/>
                </a:solidFill>
                <a:latin typeface="Calibri"/>
              </a:rPr>
              <a:t>Location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2971800"/>
            <a:ext cx="2651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FFFFFF"/>
                </a:solidFill>
                <a:latin typeface="Calibri"/>
              </a:rPr>
              <a:t>This location contributes 2.1% of total network revenue. With 303 oil changes and an average ticket of $140.79, Duke Plymouth ranks #12 in the network. Royal Purple High products represent 57% of this location's mix. High-performance full synthetic oil with Synerlec technology for superior wear protection, reduced heat, and increased fuel efficiency.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297680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8B85A"/>
                </a:solidFill>
                <a:latin typeface="Calibri"/>
              </a:rPr>
              <a:t>Top Product: Royal Purple High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645920" cy="320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640080"/>
            <a:ext cx="64008" cy="41148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B2D8A"/>
                </a:solidFill>
                <a:latin typeface="Calibri"/>
              </a:rPr>
              <a:t>Next Steps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  <a:latin typeface="Calibri"/>
              </a:rPr>
              <a:t>Action items for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31 / 32</a:t>
            </a:r>
          </a:p>
        </p:txBody>
      </p:sp>
      <p:pic>
        <p:nvPicPr>
          <p:cNvPr id="8" name="Picture 7" descr="Royal Purple White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" cy="150876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4B2D8A"/>
                </a:solidFill>
                <a:latin typeface="Calibri"/>
              </a:rPr>
              <a:t>Boost Underperformers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Target Duke Plymouth with promotional offers to increase volume and average ticket size.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2704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8973A"/>
                </a:solidFill>
                <a:latin typeface="Calibri"/>
              </a:rPr>
              <a:t>Expand High Mileage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82880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High Mileage products show strong margins — push upsell training to increase penetration across all locations.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6B4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44B8"/>
                </a:solidFill>
                <a:latin typeface="Calibri"/>
              </a:rPr>
              <a:t>Replicate Top Performer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Study Orland Park Oil N Go's practices and replicate successful strategies across the network.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08960"/>
            <a:ext cx="39319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3108960"/>
            <a:ext cx="54864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2186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Monthly Trend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520440"/>
            <a:ext cx="35661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334155"/>
                </a:solidFill>
                <a:latin typeface="Calibri"/>
              </a:rPr>
              <a:t>Establish month-over-month tracking to identify seasonal patterns and measure the impact of promotional campaigns.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0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RYP-02147 Employee LinkedIn Thumbnails P1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035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p_synthetic_exp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74320"/>
            <a:ext cx="27432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9B6FD4"/>
                </a:solidFill>
                <a:latin typeface="Calibri"/>
              </a:rPr>
              <a:t>Partnership Hub Report | January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6400800" cy="1828800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6400800" cy="54864"/>
          </a:xfrm>
          <a:prstGeom prst="rect">
            <a:avLst/>
          </a:prstGeom>
          <a:solidFill>
            <a:srgbClr val="C8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48840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8B85A"/>
                </a:solidFill>
                <a:latin typeface="Calibri"/>
              </a:rPr>
              <a:t>January 2025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$2.05M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Total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13,970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Oil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$146.89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Avg Rev/Invoice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1460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Orland Park Oil 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80"/>
            <a:ext cx="1325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9B6FD4"/>
                </a:solidFill>
                <a:latin typeface="Calibri"/>
              </a:rPr>
              <a:t>Top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E8B85A"/>
                </a:solidFill>
                <a:latin typeface="Calibri"/>
              </a:rPr>
              <a:t>NEVER SETTLE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4A3B8"/>
                </a:solidFill>
                <a:latin typeface="Calibri"/>
              </a:rPr>
              <a:t>ThrottlePro — More Cars. More Loyalty. Less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73752"/>
            <a:ext cx="9144000" cy="2011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r"/>
            <a:r>
              <a:rPr sz="700">
                <a:solidFill>
                  <a:srgbClr val="FFFFFF"/>
                </a:solidFill>
                <a:latin typeface="Calibri"/>
              </a:rPr>
              <a:t>  32 / 32</a:t>
            </a:r>
          </a:p>
        </p:txBody>
      </p:sp>
      <p:pic>
        <p:nvPicPr>
          <p:cNvPr id="21" name="Picture 20" descr="Royal Purple White 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892040"/>
            <a:ext cx="868680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