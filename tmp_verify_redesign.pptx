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23774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Partnership Hub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$2.05M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13,970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$146.89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B6FD4"/>
                </a:solidFill>
                <a:latin typeface="Calibri"/>
              </a:rPr>
              <a:t>Prepared March 05,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32</a:t>
            </a:r>
          </a:p>
        </p:txBody>
      </p:sp>
      <p:pic>
        <p:nvPicPr>
          <p:cNvPr id="23" name="Picture 22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37160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4475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83664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0195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40864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5915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774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98064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81635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8346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55264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27355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Deep Dives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918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Per-category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12463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73075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749039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69663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8973A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18795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206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$2.05M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13,970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$146.89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13,970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825496"/>
            <a:ext cx="457200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278892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$459,379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63239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099815"/>
            <a:ext cx="3836304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8416" y="3063239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$385,458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37560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374136"/>
            <a:ext cx="346397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6087" y="333756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$348,048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11879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648456"/>
            <a:ext cx="2002279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4391" y="3611879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86200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3922776"/>
            <a:ext cx="1902182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84294" y="388620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$191,125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60520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197096"/>
            <a:ext cx="89855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80667" y="416052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$90,284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434840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4471416"/>
            <a:ext cx="81602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98135" y="443484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$81,991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709160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4745736"/>
            <a:ext cx="80705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9165" y="470916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$81,090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4650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$2.05M across 12 locations with 13,970 oil changes at an average of $146.89 per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58568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Top Performer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877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$459,379 in revenue (22.4% of network total) and 2,958 oil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9816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729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34.8% of total revenue, indicating strong upsell penetration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41064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14216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142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Growth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702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$42,659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$2.05M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13,970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01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$146.89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801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417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13,970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Vehicles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816351"/>
            <a:ext cx="81882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3500" y="27889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$459,379  (22.4%)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44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072384"/>
            <a:ext cx="6870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1740" y="30449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$385,458  (18.8%)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00984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328415"/>
            <a:ext cx="620378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5058" y="330098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$348,048  (17.0%)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557015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584447"/>
            <a:ext cx="358597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3277" y="3557015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$201,182  (9.8%)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1304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840480"/>
            <a:ext cx="34067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95350" y="381304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$191,125  (9.3%)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6908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4096512"/>
            <a:ext cx="16092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5606" y="40690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$90,284  (4.4%)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2511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352544"/>
            <a:ext cx="14614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00825" y="432511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$81,991  (4.0%)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81144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4608576"/>
            <a:ext cx="144538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9218" y="458114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$81,090  (4.0%)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837176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486460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39" y="4837176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$71,344  (3.5%)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9320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5120640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39" y="50932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$56,422  (2.7%)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3492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537667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39" y="53492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$43,024  (2.1%)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0527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08960" y="563270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39" y="56052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$42,659  (2.1%)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17320"/>
          <a:ext cx="78638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1280160"/>
                <a:gridCol w="1097280"/>
                <a:gridCol w="128016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Store Name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Oil Changes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Rev/Inv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 %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Orland Park Oil N 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$459,379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$155.30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Lube Master Oil Change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$385,458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2,456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$156.95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18.8%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Palos Oil &amp; Lube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$348,048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$139.72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#4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Valpo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$201,182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1,440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$139.71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Aurora Oil &amp; Lube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$191,125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$143.38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#6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Palatine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$90,284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$148.01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4.4%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Westmont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$81,991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$151.28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#8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Westmont 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$81,090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574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$141.27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Cal 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$71,344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$127.86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#10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S. Holland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$56,422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409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$137.95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Mt. Prospect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$43,024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$145.35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8973A"/>
                          </a:solidFill>
                          <a:latin typeface="Calibri"/>
                        </a:defRPr>
                      </a:pPr>
                      <a:r>
                        <a:t>#12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Plymouth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$42,659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$140.79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Store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Invoices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Rev/Inv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Vehicles</a:t>
                      </a:r>
                    </a:p>
                  </a:txBody>
                  <a:tcPr anchor="ctr">
                    <a:solidFill>
                      <a:srgbClr val="4B2D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Orland Park Oil N 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$155.30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$459,379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Lube Master Oil Change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2,456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$156.95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$385,458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2,456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Palos Oil &amp; Lube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$139.72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$348,048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Valpo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1,440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$139.71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$201,182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1,440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Aurora Oil &amp; Lube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$143.38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$191,125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1,333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Palatine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$148.01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$90,284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Westmont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$151.28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$81,991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Westmont 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574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$141.27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$81,090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574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Cal 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$127.86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$71,344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S. Holland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409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$137.95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$56,422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409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Mt. Prospect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$145.35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$43,024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Duke Plymouth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$140.79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$42,659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8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Royal Purple Synthetic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$949,817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01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842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$714,012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01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Other / Specialty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842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$388,177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Top 10 Product SKUs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816351"/>
            <a:ext cx="4114800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7889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99232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026663"/>
            <a:ext cx="2511130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5810" y="299923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9544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236975"/>
            <a:ext cx="1661438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6118" y="320954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19856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447287"/>
            <a:ext cx="1521882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6562" y="3419856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30168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657599"/>
            <a:ext cx="1395261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9941" y="363016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3867912"/>
            <a:ext cx="1094782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9462" y="38404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50791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078224"/>
            <a:ext cx="745556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00236" y="405079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61104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4288536"/>
            <a:ext cx="288240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42920" y="426110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471416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4498848"/>
            <a:ext cx="182880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4471416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681728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4709160"/>
            <a:ext cx="182880" cy="12801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4681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Product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Category-level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32</a:t>
            </a:r>
          </a:p>
        </p:txBody>
      </p:sp>
      <p:pic>
        <p:nvPicPr>
          <p:cNvPr id="10" name="Picture 9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Royal Purple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44.2%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$907,996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44.2%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6,311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$75,666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Royal Purple High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$206,783 (23%)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244727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4757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$184,476 (20%)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2012834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0314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$151,728 (17%)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195160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9082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$147,112 (16%)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83423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1716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$62,885 (7%)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45454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2029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$34,264 (4%)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2511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4361688"/>
            <a:ext cx="35666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54143" y="432511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$26,885 (3%)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58114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617720"/>
            <a:ext cx="32678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24267" y="45811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$24,633 (3%)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High-performance full synthetic oil with Synerlec technology for superior wear protection, reduced heat, and increased fuel efficiency.
Orland Park Oil N Go leads with 23% of Royal Purple High revenue across the network. This product is sold at 12 of 12 locations. 7 store(s) sell below average — potential growth targets.
Top SKUs: RP High Perf 0W-20 ($431,364), RP High Perf 5W-30 ($261,430), RP High Perf 5W-20 ($128,072), RP High Perf 0W-16 ($49,514), RP High Perf 5W-40 ($28,735)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High Mileage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34.8%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$713,145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34.8%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4,785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$59,429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High Mileage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$204,016 (29%)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226730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4783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$168,623 (24%)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19022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775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$141,477 (20%)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145336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0845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$108,089 (15%)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37214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69623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$27,677 (4%)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31989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371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$23,791 (3%)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2511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4361688"/>
            <a:ext cx="1828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432511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$11,026 (2%)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58114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617720"/>
            <a:ext cx="1828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60" y="45811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$9,617 (1%)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Synthetic motor oil for engines with 75,000+ miles. Reduces oil consumption, revitalizes seals, and removes deposits using Synerlec additive technology.
Palos Oil &amp; Lube leads with 29% of High Mileage revenue across the network. This product is sold at 12 of 12 locations. 8 store(s) sell below average — potential growth targets.
Top SKUs: HMX 0W-20 High Mileage ($285,403), HMX 5W-30 High Mileage ($239,679), HMX 5W-20 High Mileage ($188,062)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Max-Clean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34.4%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34.4%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4,198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Attachment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4,198 of 13,970 inv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Max-Clean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 (26%)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191687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4356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 (18%)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99406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1548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 (9%)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96427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1750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 (9%)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88395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81432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 (8%)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71975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17237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 (7%)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2511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4361688"/>
            <a:ext cx="64019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673" y="432511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 (6%)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58114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617720"/>
            <a:ext cx="61591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3395" y="45811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 (6%)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High-performance fuel system cleaner and stabilizer. Deeply cleans injectors, carburetors, intake valves, and combustion chambers.
Of 4,198 Max-Clean transactions, 1,374 (33%) were paired with RP oil and 2,824 (67%) with non-RP oil (upsell opportunity). Duke Palatine leads attachment at 71.1%. Lube Master Oil Change delivers the highest ticket lift at +$48.72.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Royal Purple Syn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2.0%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$41,821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2.0%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$13,940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Royal Purple Syn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$17,773 (42%)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227324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0720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$14,728 (35%)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143840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5888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$9,319 (22%)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Premium full synthetic oil exceeding API/ILSAC standards. Enhanced film strength minimizes metal-to-metal contact in modern engines.
Duke Westmont 2 leads with 42% of Royal Purple Syn revenue across the network. This product is sold at 3 of 12 locations.
Top SKUs: RP Synthetic 0W-20 ($18,676), RP Synthetic 5W-30 ($12,194), RP Synthetic 5W-20 ($6,888), RP Synthetic 0W-16 ($2,813), RP Synthetic 5W-40 ($816.33)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Duralec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1.8%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$36,931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1.8%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$9,233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Duralec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$18,201 (49%)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161513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2611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$10,716 (29%)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98091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8397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$6,508 (18%)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22674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4220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$1,504 (4%)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Premium synthetic diesel engine oil (API CK-4) for emission-controlled engines with DPF, EGR, and SCR systems. Extends drain intervals.
Lube Master Oil Change leads with 49% of Duralec revenue across the network. This product is sold at 4 of 12 locations. 1 store(s) sell below average — potential growth targets.
Top SKUs: Duralec Super 5W-40 ($24,882), Duralec Super 15W-40 ($12,049)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Max-Atomizer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1.2%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1.2%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$2,270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Max-Atomizer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 (23%)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263287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357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$5,541 (22%)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173958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7069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 (15%)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140690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4387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$2,961 (12%)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24820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45681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$2,627 (11%)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81247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09951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$1,710 (7%)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32511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4361688"/>
            <a:ext cx="73051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7990" y="432511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$1,537 (6%)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58114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617720"/>
            <a:ext cx="28786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85347" y="45811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$605.86 (2%)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Advanced fuel injector cleaner for optimized spray patterns and improved combustion efficiency.
Duke Cal City leads with 23% of Max-Atomizer revenue across the network. This product is sold at 11 of 12 locations. 4 store(s) sell below average — potential growth targets.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Royal Purple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0.1%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$2,594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0.1%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$864.58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Royal Purple Premium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$1,277 (49%)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22864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970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$1,064 (41%)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54196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447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$252.30 (10%)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Premium synthetic motor oil with proprietary Synerlec additive technology for maximum engine protection.
Lube Master Oil Change leads with 49% of Royal Purple Premium revenue across the network. This product is sold at 3 of 12 locations. 1 store(s) sell below average — potential growth targets.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High Mileage Syn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0.0%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$867.35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0.0% of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$867.35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High Mileage Syn Revenue by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$867.35 (100%)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Full synthetic high mileage formulation with enhanced seal conditioning and superior wear protection for high-mileage engines.
Duke Palatine leads with 100% of High Mileage Syn revenue across the network. This product is sold at 1 of 12 locations.
Top SKUs: HMX Syn 5W-30 High Mileage ($720.85), HMX Syn 5W-20 High Mileage ($146.50)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32</a:t>
            </a:r>
          </a:p>
        </p:txBody>
      </p:sp>
      <p:pic>
        <p:nvPicPr>
          <p:cNvPr id="10" name="Picture 9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$459,379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2,958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$155.30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14153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2822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102238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9868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92180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9281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85546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2943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653934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1414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22.4% of total network revenue. With 2,958 oil changes and an average ticket of $155.30, Orland Park Oil N Go leads in the network. Royal Purple High products represent 45% of this location's mix. High-performance full synthetic oil with Synerlec technology for superior wear protection, reduced heat, and increased fuel efficiency.
Top Product: Max-Clean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$385,458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2,456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362933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6817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155511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2598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155303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0512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31354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11021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115530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2782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18.8% of total network revenue. With 2,456 oil changes and an average ticket of $156.95, Lube Master Oil Change ranks #2 in the network. Royal Purple High products represent 48% of this location's mix. High-performance full synthetic oil with Synerlec technology for superior wear protection, reduced heat, and increased fuel efficiency.
Top Product: Royal Purple High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$348,048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2,491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231154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9021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225640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3881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214658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4065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81945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6933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124894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46429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17.0% of total network revenue. With 2,491 oil changes and an average ticket of $139.72, Palos Oil &amp; Lube ranks #3 in the network. High Mileage products represent 59% of this location's mix. Synthetic motor oil for engines with 75,000+ miles. Reduces oil consumption, revitalizes seals, and removes deposits using Synerlec additive technology.
Top Product: High Mileage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189201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9498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178194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9423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130071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98198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44116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38646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32723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24712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9.8% of total network revenue. With 1,440 oil changes and an average ticket of $139.71, Duke Valpo ranks #4 in the network. Royal Purple High products represent 75% of this location's mix. High-performance full synthetic oil with Synerlec technology for superior wear protection, reduced heat, and increased fuel efficiency.
Top Product: Royal Purple High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$191,125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190445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1937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2354607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2087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175972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7208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32131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18796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100497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2451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9.3% of total network revenue. With 1,333 oil changes and an average ticket of $143.38, Aurora Oil &amp; Lube ranks #5 in the network. High Mileage products represent 57% of this location's mix. Synthetic motor oil for engines with 75,000+ miles. Reduces oil consumption, revitalizes seals, and removes deposits using Synerlec additive technology.
Top Product: High Mileage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24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$90,284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33071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28190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33739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4872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21563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13112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828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1828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4.4% of total network revenue. With 610 oil changes and an average ticket of $148.01, Duke Palatine ranks #6 in the network. Max-Clean products represent 73% of this location's mix. High-performance fuel system cleaner and stabilizer. Deeply cleans injectors, carburetors, intake valves, and combustion chambers.
Top Product: Max-Clean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25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$81,991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$151.28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914244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724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33737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4859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25568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168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828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1828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4.0% of total network revenue. With 542 oil changes and an average ticket of $151.28, Duke Westmont 1 ranks #7 in the network. Max-Clean products represent 72% of this location's mix. High-performance fuel system cleaner and stabilizer. Deeply cleans injectors, carburetors, intake valves, and combustion chambers.
Top Product: Max-Clean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26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$81,090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78796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85449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53262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0106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40747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4951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36707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64556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24721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4695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4.0% of total network revenue. With 574 oil changes and an average ticket of $141.27, Duke Westmont 2 ranks #8 in the network. Max-Clean products represent 51% of this location's mix. High-performance fuel system cleaner and stabilizer. Deeply cleans injectors, carburetors, intake valves, and combustion chambers.
Top Product: Max-Clean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27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515074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12554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47496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446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4547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2260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400544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98024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395336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2816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3.5% of total network revenue. With 558 oil changes and an average ticket of $127.86, Duke Cal City ranks #9 in the network. Max-Clean products represent 47% of this location's mix. High-performance fuel system cleaner and stabilizer. Deeply cleans injectors, carburetors, intake valves, and combustion chambers.
Top Product: Max-Clean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28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$56,422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$137.95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262117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8650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267221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9699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236264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60128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2022523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0003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156410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1589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2.7% of total network revenue. With 409 oil changes and an average ticket of $137.95, Duke S. Holland ranks #10 in the network. Royal Purple High products represent 48% of this location's mix. High-performance full synthetic oil with Synerlec technology for superior wear protection, reduced heat, and increased fuel efficiency.
Top Product: High Mileage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29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57364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1120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41850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5989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405218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2698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8288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$1,384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24171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39192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2.1% of total network revenue. With 296 oil changes and an average ticket of $145.35, Duke Mt. Prospect ranks #11 in the network. Max-Clean products represent 58% of this location's mix. High-performance fuel system cleaner and stabilizer. Deeply cleans injectors, carburetors, intake valves, and combustion chambers.
Top Product: Max-Clean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30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$42,659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01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842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by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825496"/>
            <a:ext cx="27432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44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81528"/>
            <a:ext cx="1985391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2871" y="304495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00984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337560"/>
            <a:ext cx="187991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7395" y="330098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57015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593591"/>
            <a:ext cx="131299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10479" y="3557015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13048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849624"/>
            <a:ext cx="112549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22972" y="381304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105656"/>
            <a:ext cx="1000619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8099" y="406908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Location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743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This location contributes 2.1% of total network revenue. With 303 oil changes and an average ticket of $140.79, Duke Plymouth ranks #12 in the network. Royal Purple High products represent 57% of this location's mix. High-performance full synthetic oil with Synerlec technology for superior wear protection, reduced heat, and increased fuel efficiency.
Top Product: Royal Purple High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P_Synthetic_Expert_Logo_Blac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"/>
            <a:ext cx="192024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31 / 32</a:t>
            </a:r>
          </a:p>
        </p:txBody>
      </p:sp>
      <p:pic>
        <p:nvPicPr>
          <p:cNvPr id="8" name="Picture 7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4650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58568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Expand High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877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9816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729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Replicate Top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41064"/>
            <a:ext cx="822960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14216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1421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Monthly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702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4320"/>
            <a:ext cx="27432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Partnership Hub Report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$2.05M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13,970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$146.89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B6FD4"/>
                </a:solidFill>
                <a:latin typeface="Calibri"/>
              </a:rPr>
              <a:t>Prepared March 05,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32 / 32</a:t>
            </a:r>
          </a:p>
        </p:txBody>
      </p:sp>
      <p:pic>
        <p:nvPicPr>
          <p:cNvPr id="22" name="Picture 21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878324"/>
            <a:ext cx="777240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