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YP-02147 Employee LinkedIn Thumbnails P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03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"/>
            <a:ext cx="23774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Installer Program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B6FD4"/>
                </a:solidFill>
                <a:latin typeface="Calibri"/>
              </a:rPr>
              <a:t>January 2025 | 12 Locations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NEVER SETTLE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256032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3443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January 2025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$2.22M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Total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38528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15,023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21408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Oil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2257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$147.57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05456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Avg Rev/Invoice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06624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Orland Park Oil N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89504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Top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Calibri"/>
              </a:rPr>
              <a:t>ThrottlePro — More Cars. More Loyalty. Less Stress.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 / 24</a:t>
            </a:r>
          </a:p>
        </p:txBody>
      </p:sp>
      <p:pic>
        <p:nvPicPr>
          <p:cNvPr id="22" name="Picture 21" descr="Royal Purple White 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Report sections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Executive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KPIs &amp; observations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9659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Revenue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Total revenue breakdown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9659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Store Rankings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Performance table &amp; matrix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718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520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Product Mix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840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Category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29718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520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Store Deep Dives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3840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Individual store detail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9718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520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Next Steps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840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Key performance indicators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3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$2.22M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Across 12 locations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15,023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6344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$147.57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 / 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Network average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11,171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Unique Vehicles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560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Revenue Leaderboard — Top 8 Stores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743200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2761488"/>
            <a:ext cx="59436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2743200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$517,911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9923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3017520"/>
            <a:ext cx="4906697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32777" y="2999232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$427,558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55264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3273552"/>
            <a:ext cx="449794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24020" y="3255264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$391,940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3529584"/>
            <a:ext cx="2308786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4866" y="3511296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$201,182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767328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34640" y="3785615"/>
            <a:ext cx="2229914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55994" y="3767328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$194,309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023360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4041648"/>
            <a:ext cx="1043229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69309" y="4023360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$90,905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27939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34640" y="4297679"/>
            <a:ext cx="1011372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7452" y="4279392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$88,129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535424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34640" y="4553712"/>
            <a:ext cx="991806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17886" y="4535424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$86,424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Executive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Key insights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4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" cy="150876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Network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Total network revenue of $2.22M across 12 locations with 15,023 oil changes at an average of $147.57 per invoice.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417320"/>
            <a:ext cx="54864" cy="15087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973A"/>
                </a:solidFill>
                <a:latin typeface="Calibri"/>
              </a:rPr>
              <a:t>Top Performer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Orland Park Oil N Go leads with $517,911 in revenue (23.4% of network total) and 3,312 oil changes.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54864" cy="1508760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44B8"/>
                </a:solidFill>
                <a:latin typeface="Calibri"/>
              </a:rPr>
              <a:t>Product Mix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High Mileage products account for 32.2% of total revenue, indicating strong upsell penetration across the network.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3108960"/>
            <a:ext cx="54864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Growth 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Duke Plymouth has the lowest revenue at $42,737 — targeted promotions could lift volume.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Revenue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Total revenue distribution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5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3474720" cy="320040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8B85A"/>
                </a:solidFill>
                <a:latin typeface="Calibri"/>
              </a:rPr>
              <a:t>TOTAL NETWORK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$2.22M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B6FD4"/>
                </a:solidFill>
                <a:latin typeface="Calibri"/>
              </a:rPr>
              <a:t>12 Locations | January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15,023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0175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B6FD4"/>
                </a:solidFill>
                <a:latin typeface="Calibri"/>
              </a:rPr>
              <a:t>Total Oil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20439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$147.57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52043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B6FD4"/>
                </a:solidFill>
                <a:latin typeface="Calibri"/>
              </a:rPr>
              <a:t>Avg Rev/Invoice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11,171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0233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B6FD4"/>
                </a:solidFill>
                <a:latin typeface="Calibri"/>
              </a:rPr>
              <a:t>Unique Vehicles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4173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Share of Total Revenue by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17373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79" y="1764792"/>
            <a:ext cx="534053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63453" y="17373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23.4%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1993391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79" y="2020823"/>
            <a:ext cx="440884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70284" y="1993391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19.3%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2249424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79" y="2276856"/>
            <a:ext cx="404156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33556" y="224942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17.7%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250545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79" y="2532888"/>
            <a:ext cx="207452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6852" y="250545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9.1%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27614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79" y="2788920"/>
            <a:ext cx="200365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29765" y="27614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8.8%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3017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79" y="3044951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59" y="3017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4.1%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327355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79" y="3300984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59" y="32735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4.0%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3529584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79" y="3557016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59" y="352958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3.9%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378561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79" y="3813048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59" y="37856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3.2%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404164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79" y="4069080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59" y="404164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2.8%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0" y="42976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79" y="4325112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59" y="42976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1.9%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0" y="455371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79" y="4581144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59" y="45537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1.9%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Performance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All locations ranked by total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6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45720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35608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Rank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417320"/>
            <a:ext cx="256032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435608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Store 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417320"/>
            <a:ext cx="118872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1435608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Revenue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417320"/>
            <a:ext cx="100584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1435608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Oil Changes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79" y="1417320"/>
            <a:ext cx="100584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4999" y="1435608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Avg Rev/Inv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19" y="1417320"/>
            <a:ext cx="82296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39" y="1435608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Share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677924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1696212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1677924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1696212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1677924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39" y="1696212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$517,911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67792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59" y="169621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3,312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79" y="167792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4999" y="169621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$156.37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19" y="1677924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39" y="1696212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23.4%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1938528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1956816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1938528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1956816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938528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20439" y="1956816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$427,558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193852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59" y="195681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2,709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79" y="193852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4999" y="195681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$157.83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19" y="1938528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39" y="1956816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19.3%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199132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2217420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2199132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2217420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0" y="2199132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20439" y="2217420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$391,940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63440" y="2199132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09159" y="221742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2,797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79" y="2199132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14999" y="221742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$140.13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5119" y="2199132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20839" y="2217420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17.7%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2459736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2478024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" y="2459736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0120" y="2478024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74720" y="2459736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20439" y="2478024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$201,182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63440" y="2459736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09159" y="247802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1,440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79" y="2459736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14999" y="247802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$139.71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75119" y="2459736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20839" y="2478024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9.1%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2720339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2738627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" y="2720339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0120" y="2738627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74720" y="2720339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520439" y="2738627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$194,309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63440" y="2720339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09159" y="273862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1,352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79" y="2720339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14999" y="273862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$143.72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75119" y="2720339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720839" y="2738627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8.8%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2980944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2920" y="2999232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14400" y="2980944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60120" y="2999232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474720" y="2980944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520439" y="2999232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$90,905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663440" y="2980944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709159" y="299923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614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69279" y="2980944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14999" y="299923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$148.05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675119" y="2980944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720839" y="2999232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4.1%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" y="3241548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02920" y="3259836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#7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3241548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60120" y="3259836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474720" y="3241548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520439" y="3259836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$88,129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663440" y="3241548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09159" y="325983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585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669279" y="3241548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714999" y="325983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$150.65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675119" y="3241548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720839" y="3259836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4.0%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" y="3502152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02920" y="3520440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14400" y="3502152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60120" y="3520440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474720" y="3502152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520439" y="3520440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$86,424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63440" y="3502152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709159" y="352044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611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669279" y="3502152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714999" y="352044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$141.45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675119" y="3502152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720839" y="3520440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3.9%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" y="3762756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02920" y="3781044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14400" y="3762756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60120" y="3781044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474720" y="3762756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520439" y="3781044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$71,452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63440" y="3762756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709159" y="378104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559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669279" y="3762756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714999" y="378104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$127.82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675119" y="3762756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720839" y="3781044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3.2%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7200" y="4023359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02920" y="4041647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" y="4023359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60120" y="4041647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474720" y="4023359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520439" y="4041647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$61,331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663440" y="4023359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709159" y="404164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444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669279" y="4023359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714999" y="404164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$138.13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675119" y="4023359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720839" y="4041647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2.8%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57200" y="4283964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02920" y="4302251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14400" y="4283964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60120" y="4302251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474720" y="4283964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520439" y="4302251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$43,024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663440" y="428396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709159" y="4302251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296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669279" y="428396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714999" y="4302251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$145.35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675119" y="4283964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720839" y="4302251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1.9%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57200" y="4544568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02920" y="4562855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#12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14400" y="4544568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60120" y="4562855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474720" y="4544568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520439" y="4562855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$42,737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663440" y="454456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709159" y="4562855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304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669279" y="454456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714999" y="4562855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$140.58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675119" y="4544568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720839" y="4562855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1.9%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Performance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Volume vs. average ticket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7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0" y="1673352"/>
            <a:ext cx="274320" cy="13716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65506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34155"/>
                </a:solidFill>
                <a:latin typeface="Calibri"/>
              </a:rPr>
              <a:t>Volume (invoices)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673352"/>
            <a:ext cx="274320" cy="1371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655064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34155"/>
                </a:solidFill>
                <a:latin typeface="Calibri"/>
              </a:rPr>
              <a:t>Avg Rev/Invoice ($)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47672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965960"/>
            <a:ext cx="3200400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192938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3,312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065629"/>
            <a:ext cx="3170794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76834" y="2042038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183587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2201875"/>
            <a:ext cx="2617718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3758" y="216529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2,709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2301544"/>
            <a:ext cx="3200400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2277953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19502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437790"/>
            <a:ext cx="2702753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8793" y="240121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2,797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2537460"/>
            <a:ext cx="2841488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7528" y="2513868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655417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2673705"/>
            <a:ext cx="1391478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97518" y="263712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1,440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2773375"/>
            <a:ext cx="2832971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39011" y="2749783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891332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2909620"/>
            <a:ext cx="1306443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12483" y="287304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1,352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3009290"/>
            <a:ext cx="2914284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20324" y="2985698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127248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0" y="3145536"/>
            <a:ext cx="593310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99350" y="310896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614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0" y="3245205"/>
            <a:ext cx="3002085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08125" y="322161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363163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0" y="3381451"/>
            <a:ext cx="565288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71328" y="3344875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585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3481120"/>
            <a:ext cx="3054807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0847" y="345752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$151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599078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3617366"/>
            <a:ext cx="590411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96451" y="358079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611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0320" y="3717035"/>
            <a:ext cx="2868254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74294" y="369344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3834993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60320" y="3853281"/>
            <a:ext cx="540164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46204" y="3816705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559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60320" y="3952951"/>
            <a:ext cx="2591871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97911" y="392935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$128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070908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60320" y="4089196"/>
            <a:ext cx="429039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35079" y="405262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444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60320" y="4188866"/>
            <a:ext cx="2800932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06972" y="416527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$138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4306824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60320" y="4325112"/>
            <a:ext cx="286026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92066" y="4288536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296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60320" y="4424781"/>
            <a:ext cx="2947336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53376" y="440119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4542739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60320" y="4561027"/>
            <a:ext cx="293756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99796" y="4524451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304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60320" y="4660696"/>
            <a:ext cx="2850612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56652" y="4637105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Mix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Revenue by product category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8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2560320" cy="5486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4B2D8A"/>
                </a:solidFill>
                <a:latin typeface="Calibri"/>
              </a:rPr>
              <a:t>42.8%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Royal Purple Synthetic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488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$949,817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41732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417320"/>
            <a:ext cx="256032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973A"/>
                </a:solidFill>
                <a:latin typeface="Calibri"/>
              </a:rPr>
              <a:t>32.2%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920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High Mileage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1488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$714,012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417320"/>
            <a:ext cx="2560320" cy="54864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B44B8"/>
                </a:solidFill>
                <a:latin typeface="Calibri"/>
              </a:rPr>
              <a:t>24.9%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920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Other / Specialty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1488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$553,072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 (Top 10)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8346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2852928"/>
            <a:ext cx="45720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59" y="283464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$706,843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03580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0" y="3054096"/>
            <a:ext cx="2790145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3305" y="3035808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$431,364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236976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3255264"/>
            <a:ext cx="184604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69202" y="3236976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$285,403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438144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0" y="3456432"/>
            <a:ext cx="1690980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140" y="343814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$261,430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63931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3657600"/>
            <a:ext cx="155029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73450" y="3639312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$239,679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8404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77440" y="3858768"/>
            <a:ext cx="1216424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39584" y="38404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$188,062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04164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4059935"/>
            <a:ext cx="828395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51555" y="4041648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$128,072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242816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7440" y="4261104"/>
            <a:ext cx="320266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426" y="4242816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$49,514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443984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5W-40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77440" y="4462272"/>
            <a:ext cx="18586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09022" y="444398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$28,735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64515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Max-Atomizer Fuel Injector Cleaner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77440" y="4663440"/>
            <a:ext cx="182880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06040" y="4645152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$24,968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Test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8B85A"/>
                </a:solidFill>
                <a:latin typeface="Calibri"/>
              </a:rPr>
              <a:t>ABE Consumer Distribution Territory Map</a:t>
            </a:r>
          </a:p>
        </p:txBody>
      </p:sp>
      <p:pic>
        <p:nvPicPr>
          <p:cNvPr id="5" name="Picture 4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pic>
        <p:nvPicPr>
          <p:cNvPr id="6" name="Picture 5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29227"/>
            <a:ext cx="8229600" cy="239370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9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YP-02147 Employee LinkedIn Thumbnails P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03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640080"/>
            <a:ext cx="3108960" cy="1280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0" y="2057400"/>
            <a:ext cx="4572000" cy="3657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Store-Level Deep Dives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6FD4"/>
                </a:solidFill>
                <a:latin typeface="Calibri"/>
              </a:rPr>
              <a:t>Individual performance analysis — January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E8B85A"/>
                </a:solidFill>
                <a:latin typeface="Calibri"/>
              </a:rPr>
              <a:t>NEVER SETTLE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10 / 24</a:t>
            </a:r>
          </a:p>
        </p:txBody>
      </p:sp>
      <p:pic>
        <p:nvPicPr>
          <p:cNvPr id="10" name="Picture 9" descr="Royal Purple White 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Orland Park Oil N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11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$517,911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3,312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$156.37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$182,703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179276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33046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$94,265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129502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35306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$68,093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16761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07894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$61,394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08358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23866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$56,976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828317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68597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$43,554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23.4% of total network revenue. With 3,312 oil changes and an average ticket of $156.37, Orland Park Oil N Go leads in the network. Royal Purple High products represent 40%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Lube Master Oil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#2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12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$427,558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2,709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$157.83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$127,668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626333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66613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$96,497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148886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29146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$54,704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48687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27150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$54,631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257582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97862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$46,206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10608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6364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$40,640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19.3% of total network revenue. With 2,709 oil changes and an average ticket of $157.83, Lube Master Oil Change ranks #2 in the network. Royal Purple High products represent 43%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Palos Oil &amp; Lube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#3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13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$391,940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2,797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$140.13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$82,072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92795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8232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$69,158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858109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98389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$67,508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719008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59288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$64,223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230464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44920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$54,435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58200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22282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$37,367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17.7% of total network revenue. With 2,797 oil changes and an average ticket of $140.13, Palos Oil &amp; Lube ranks #3 in the network. High Mileage products represent 52% of this location's mix. Synthetic motor oil for engines with 75,000+ miles. Reduces oil consumption, revitalizes seals, and removes deposits using Synerlec additive technology.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High Mileage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Valpo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#4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14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$201,182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1,440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$139.71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$69,504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39655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6836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$47,937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257128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7408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$45,149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64757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87856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$32,956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558811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99091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$11,178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414495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54775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$8,291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9.1% of total network revenue. With 1,440 oil changes and an average ticket of $139.71, Duke Valpo ranks #4 in the network. Royal Purple High products represent 75%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 High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Aurora Oil &amp; Lube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#5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15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$194,309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1,352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$143.72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$49,675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98250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22782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$42,638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412313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52593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$34,487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22898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9269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$31,866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673667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13947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$23,927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27296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13244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$18,198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8.8% of total network revenue. With 1,352 oil changes and an average ticket of $143.72, Aurora Oil &amp; Lube ranks #5 in the network. High Mileage products represent 56% of this location's mix. Synthetic motor oil for engines with 75,000+ miles. Reduces oil consumption, revitalizes seals, and removes deposits using Synerlec additive technology.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High Mileage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Palatine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#6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16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$90,905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614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$148.05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$66,207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427363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67643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$8,143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418899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9179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$7,982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7313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3414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$5,204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8288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23160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$1,958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8288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23160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$1,704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4.1% of total network revenue. With 614 oil changes and an average ticket of $148.05, Duke Palatine ranks #6 in the network. Max-Clean products represent 73%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Westmont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#7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17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$88,129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585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$150.65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$58,873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115804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8322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$19,621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427347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67627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$7,241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32387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4152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$5,487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8288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23160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$2,700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8288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23160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$1,473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4.0% of total network revenue. With 585 oil changes and an average ticket of $150.65, Duke Westmont 1 ranks #7 in the network. Max-Clean products represent 67%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Westmont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#8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18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$86,424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611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$141.45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$41,021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99809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38374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$11,783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0W-20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67466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14940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$7,965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5W-30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51612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56409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$6,093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464963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5243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$5,489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33512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75400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$3,956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3.9% of total network revenue. With 611 oil changes and an average ticket of $141.45, Duke Westmont 2 ranks #8 in the network. Max-Clean products represent 47%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Cal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#9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19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$71,452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559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$127.82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$33,345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652427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92707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$6,261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Max-Atomizer Fuel Injector Cleaner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601624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41904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$5,773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0W-20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57605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16334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$5,528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507355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7635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$4,869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5W-30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50075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1039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$4,806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3.2% of total network revenue. With 559 oil changes and an average ticket of $127.82, Duke Cal City ranks #9 in the network. Max-Clean products represent 47%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S. Holland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#10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20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$61,331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444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$138.13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$10,310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3384811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25091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$10,044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3320149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60429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$9,852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992688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2968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$8,880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2561862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02142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$7,602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98120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21484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$5,879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2.8% of total network revenue. With 444 oil changes and an average ticket of $138.13, Duke S. Holland ranks #10 in the network. Royal Purple High products represent 44%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High Mileage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Mt. Prospect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#11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21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$43,024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$145.35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$24,785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726611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66891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$5,183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530112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70392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$3,781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Max-Atomizer Fuel Injector Cleaner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51327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53556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$3,661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306168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46448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$2,184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5W-20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204277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44557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$1,457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1.9% of total network revenue. With 296 oil changes and an average ticket of $145.35, Duke Mt. Prospect ranks #11 in the network. Max-Clean products represent 58%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Plymouth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#12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22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$42,737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304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$140.58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$10,795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514828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5108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$7,813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38122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1506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$7,398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66313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03412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$5,167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425623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65903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$4,429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267451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07731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$3,937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1.9% of total network revenue. With 304 oil changes and an average ticket of $140.58, Duke Plymouth ranks #12 in the network. Royal Purple High products represent 57%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 High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Next Steps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Action items for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23 / 24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" cy="150876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Boost Underperformers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Target Duke Plymouth with promotional offers to increase volume and average ticket size.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417320"/>
            <a:ext cx="54864" cy="15087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973A"/>
                </a:solidFill>
                <a:latin typeface="Calibri"/>
              </a:rPr>
              <a:t>Expand High Mileage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High Mileage products show strong margins — push upsell training to increase penetration across all locations.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54864" cy="1508760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44B8"/>
                </a:solidFill>
                <a:latin typeface="Calibri"/>
              </a:rPr>
              <a:t>Replicate Top Performer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Study Orland Park Oil N Go's practices and replicate successful strategies across the network.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3108960"/>
            <a:ext cx="54864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Monthly Trend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Establish month-over-month tracking to identify seasonal patterns and measure the impact of promotional campaigns.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YP-02147 Employee LinkedIn Thumbnails P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03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74320"/>
            <a:ext cx="2743200" cy="114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463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6FD4"/>
                </a:solidFill>
                <a:latin typeface="Calibri"/>
              </a:rPr>
              <a:t>Installer Program Report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011680"/>
            <a:ext cx="640080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48840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B85A"/>
                </a:solidFill>
                <a:latin typeface="Calibri"/>
              </a:rPr>
              <a:t>January 2025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$2.22M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15,023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Oil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$147.57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Avg Rev/Invoice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Orland Park Oil N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Top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E8B85A"/>
                </a:solidFill>
                <a:latin typeface="Calibri"/>
              </a:rPr>
              <a:t>NEVER SETTLE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4A3B8"/>
                </a:solidFill>
                <a:latin typeface="Calibri"/>
              </a:rPr>
              <a:t>ThrottlePro — More Cars. More Loyalty. Less Stress.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24 / 24</a:t>
            </a:r>
          </a:p>
        </p:txBody>
      </p:sp>
      <p:pic>
        <p:nvPicPr>
          <p:cNvPr id="21" name="Picture 20" descr="Royal Purple White 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