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23774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Installer Program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23</a:t>
            </a:r>
          </a:p>
        </p:txBody>
      </p:sp>
      <p:pic>
        <p:nvPicPr>
          <p:cNvPr id="22" name="Picture 21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15,023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$147.57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11,171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17520"/>
            <a:ext cx="4906697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2777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273552"/>
            <a:ext cx="449794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020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529584"/>
            <a:ext cx="230878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4866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785615"/>
            <a:ext cx="2229914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5994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041648"/>
            <a:ext cx="104322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9309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4297679"/>
            <a:ext cx="1011372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7452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553712"/>
            <a:ext cx="99180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7886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$2.22M across 12 locations with 15,023 oil changes at an average of $147.57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$517,911 in revenue (23.4% of network total) and 3,312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32.2%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$42,737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11,171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764792"/>
            <a:ext cx="534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3453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020823"/>
            <a:ext cx="440884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0284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276856"/>
            <a:ext cx="40415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355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2532888"/>
            <a:ext cx="207452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6852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2788920"/>
            <a:ext cx="20036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765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$517,911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3,312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23.4%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$427,558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$157.83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19.3%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$391,940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2,797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$194,309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8.8%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$90,905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$88,129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$150.65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$86,424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$141.45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$71,452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$61,331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$138.13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$42,737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$140.58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65629"/>
            <a:ext cx="317079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683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1875"/>
            <a:ext cx="261771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758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37790"/>
            <a:ext cx="270275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8793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537460"/>
            <a:ext cx="284148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7528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73705"/>
            <a:ext cx="139147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7518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73375"/>
            <a:ext cx="28329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9011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909620"/>
            <a:ext cx="130644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2483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009290"/>
            <a:ext cx="291428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0324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45536"/>
            <a:ext cx="59331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9350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45205"/>
            <a:ext cx="300208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8125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381451"/>
            <a:ext cx="56528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1328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81120"/>
            <a:ext cx="305480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0847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617366"/>
            <a:ext cx="590411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6451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717035"/>
            <a:ext cx="28682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74294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853281"/>
            <a:ext cx="54016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6204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2951"/>
            <a:ext cx="25918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7911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089196"/>
            <a:ext cx="429039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35079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188866"/>
            <a:ext cx="280093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6972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325112"/>
            <a:ext cx="2860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9206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24781"/>
            <a:ext cx="2947336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3376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561027"/>
            <a:ext cx="2937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9796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60696"/>
            <a:ext cx="285061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6652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$949,817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24.9%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$553,072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23</a:t>
            </a:r>
          </a:p>
        </p:txBody>
      </p:sp>
      <p:pic>
        <p:nvPicPr>
          <p:cNvPr id="10" name="Picture 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23.4% of total network revenue. With 3,312 oil changes and an average ticket of $156.37, Orland Park Oil N Go leads in the network. Royal Purple High products represent 40%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$157.83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62633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661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48886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914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48687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7150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25758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786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10608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36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19.3% of total network revenue. With 2,709 oil changes and an average ticket of $157.83, Lube Master Oil Change ranks #2 in the network. Royal Purple High products represent 43%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17.7% of total network revenue. With 2,797 oil changes and an average ticket of $140.13, Palos Oil &amp; Lube ranks #3 in the network. High Mileage products represent 52%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9.1% of total network revenue. With 1,440 oil changes and an average ticket of $139.71, Duke Valpo ranks #4 in the network. Royal Purple High products represent 75%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825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278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41231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259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8.8% of total network revenue. With 1,352 oil changes and an average ticket of $143.72, Aurora Oil &amp; Lube ranks #5 in the network. High Mileage products represent 56%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2736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764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1889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917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4.1% of total network revenue. With 614 oil changes and an average ticket of $148.05, Duke Palatine ranks #6 in the network. Max-Clean products represent 73%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585 oil changes and an average ticket of $150.65, Duke Westmont 1 ranks #7 in the network. Max-Clean products represent 67%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3512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540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3.9% of total network revenue. With 611 oil changes and an average ticket of $141.45, Duke Westmont 2 ranks #8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$71,452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3.2% of total network revenue. With 559 oil changes and an average ticket of $127.82, Duke Cal City ranks #9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$61,331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$138.13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33848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50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332014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042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2.8% of total network revenue. With 444 oil changes and an average ticket of $138.13, Duke S. Holland ranks #10 in the network. Royal Purple High products represent 44%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30616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6448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20427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4455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296 oil changes and an average ticket of $145.35, Duke Mt. Prospect ranks #11 in the network. Max-Clean products represent 58%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$42,737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304 oil changes and an average ticket of $140.58, Duke Plymouth ranks #12 in the network. Royal Purple High products represent 57%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4320"/>
            <a:ext cx="27432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Installer Program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23</a:t>
            </a:r>
          </a:p>
        </p:txBody>
      </p:sp>
      <p:pic>
        <p:nvPicPr>
          <p:cNvPr id="21" name="Picture 20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